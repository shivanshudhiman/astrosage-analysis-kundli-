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Manrope ExtraBold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AHcd65dAhf4lGCOCgBvDkf2RJ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customschemas.google.com/relationships/presentationmetadata" Target="metadata"/><Relationship Id="rId27" Type="http://schemas.openxmlformats.org/officeDocument/2006/relationships/font" Target="fonts/Manrope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21;p19"/>
          <p:cNvSpPr/>
          <p:nvPr/>
        </p:nvSpPr>
        <p:spPr>
          <a:xfrm>
            <a:off x="7348406" y="0"/>
            <a:ext cx="4843594" cy="3860800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36000">
                <a:srgbClr val="FE0000">
                  <a:alpha val="0"/>
                </a:srgbClr>
              </a:gs>
              <a:gs pos="100000">
                <a:srgbClr val="FE0000">
                  <a:alpha val="20000"/>
                </a:srgbClr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Google Shape;22;p19"/>
          <p:cNvSpPr/>
          <p:nvPr/>
        </p:nvSpPr>
        <p:spPr>
          <a:xfrm>
            <a:off x="10421904" y="846740"/>
            <a:ext cx="556181" cy="84328"/>
          </a:xfrm>
          <a:custGeom>
            <a:rect b="b" l="l" r="r" t="t"/>
            <a:pathLst>
              <a:path extrusionOk="0" h="84328" w="556181">
                <a:moveTo>
                  <a:pt x="514017" y="0"/>
                </a:moveTo>
                <a:cubicBezTo>
                  <a:pt x="537304" y="0"/>
                  <a:pt x="556181" y="18877"/>
                  <a:pt x="556181" y="42164"/>
                </a:cubicBezTo>
                <a:cubicBezTo>
                  <a:pt x="556181" y="65451"/>
                  <a:pt x="537304" y="84328"/>
                  <a:pt x="514017" y="84328"/>
                </a:cubicBezTo>
                <a:cubicBezTo>
                  <a:pt x="490730" y="84328"/>
                  <a:pt x="471853" y="65451"/>
                  <a:pt x="471853" y="42164"/>
                </a:cubicBezTo>
                <a:cubicBezTo>
                  <a:pt x="471853" y="18877"/>
                  <a:pt x="490730" y="0"/>
                  <a:pt x="514017" y="0"/>
                </a:cubicBezTo>
                <a:close/>
                <a:moveTo>
                  <a:pt x="356734" y="0"/>
                </a:moveTo>
                <a:cubicBezTo>
                  <a:pt x="380021" y="0"/>
                  <a:pt x="398898" y="18877"/>
                  <a:pt x="398898" y="42164"/>
                </a:cubicBezTo>
                <a:cubicBezTo>
                  <a:pt x="398898" y="65451"/>
                  <a:pt x="380021" y="84328"/>
                  <a:pt x="356734" y="84328"/>
                </a:cubicBezTo>
                <a:cubicBezTo>
                  <a:pt x="333447" y="84328"/>
                  <a:pt x="314570" y="65451"/>
                  <a:pt x="314570" y="42164"/>
                </a:cubicBezTo>
                <a:cubicBezTo>
                  <a:pt x="314570" y="18877"/>
                  <a:pt x="333447" y="0"/>
                  <a:pt x="356734" y="0"/>
                </a:cubicBezTo>
                <a:close/>
                <a:moveTo>
                  <a:pt x="199448" y="0"/>
                </a:moveTo>
                <a:cubicBezTo>
                  <a:pt x="222735" y="0"/>
                  <a:pt x="241612" y="18877"/>
                  <a:pt x="241612" y="42164"/>
                </a:cubicBezTo>
                <a:cubicBezTo>
                  <a:pt x="241612" y="65451"/>
                  <a:pt x="222735" y="84328"/>
                  <a:pt x="199448" y="84328"/>
                </a:cubicBezTo>
                <a:cubicBezTo>
                  <a:pt x="176161" y="84328"/>
                  <a:pt x="157284" y="65451"/>
                  <a:pt x="157284" y="42164"/>
                </a:cubicBezTo>
                <a:cubicBezTo>
                  <a:pt x="157284" y="18877"/>
                  <a:pt x="176161" y="0"/>
                  <a:pt x="199448" y="0"/>
                </a:cubicBezTo>
                <a:close/>
                <a:moveTo>
                  <a:pt x="42164" y="0"/>
                </a:moveTo>
                <a:cubicBezTo>
                  <a:pt x="65451" y="0"/>
                  <a:pt x="84328" y="18877"/>
                  <a:pt x="84328" y="42164"/>
                </a:cubicBezTo>
                <a:cubicBezTo>
                  <a:pt x="84328" y="65451"/>
                  <a:pt x="65451" y="84328"/>
                  <a:pt x="42164" y="84328"/>
                </a:cubicBezTo>
                <a:cubicBezTo>
                  <a:pt x="18877" y="84328"/>
                  <a:pt x="0" y="65451"/>
                  <a:pt x="0" y="42164"/>
                </a:cubicBezTo>
                <a:cubicBezTo>
                  <a:pt x="0" y="18877"/>
                  <a:pt x="18877" y="0"/>
                  <a:pt x="42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" name="Google Shape;23;p19"/>
          <p:cNvCxnSpPr/>
          <p:nvPr/>
        </p:nvCxnSpPr>
        <p:spPr>
          <a:xfrm rot="10800000">
            <a:off x="4639403" y="5949950"/>
            <a:ext cx="6169025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19"/>
          <p:cNvCxnSpPr/>
          <p:nvPr/>
        </p:nvCxnSpPr>
        <p:spPr>
          <a:xfrm rot="10800000">
            <a:off x="10915065" y="5949950"/>
            <a:ext cx="358226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19"/>
          <p:cNvCxnSpPr/>
          <p:nvPr/>
        </p:nvCxnSpPr>
        <p:spPr>
          <a:xfrm rot="10800000">
            <a:off x="11379928" y="5949950"/>
            <a:ext cx="135383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19"/>
          <p:cNvSpPr txBox="1"/>
          <p:nvPr>
            <p:ph type="ctrTitle"/>
          </p:nvPr>
        </p:nvSpPr>
        <p:spPr>
          <a:xfrm>
            <a:off x="3833495" y="2242185"/>
            <a:ext cx="7122160" cy="256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anrope ExtraBold"/>
              <a:buNone/>
              <a:defRPr b="0" sz="5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subTitle"/>
          </p:nvPr>
        </p:nvSpPr>
        <p:spPr>
          <a:xfrm>
            <a:off x="3833406" y="1099230"/>
            <a:ext cx="7122470" cy="9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8265034" y="4921400"/>
            <a:ext cx="2690842" cy="545625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100000">
                <a:srgbClr val="FE0000">
                  <a:alpha val="40000"/>
                </a:srgbClr>
              </a:gs>
            </a:gsLst>
            <a:lin ang="0" scaled="0"/>
          </a:gradFill>
          <a:ln cap="flat" cmpd="sng" w="9525">
            <a:solidFill>
              <a:schemeClr val="accent1">
                <a:alpha val="980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54000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/>
          <p:nvPr/>
        </p:nvSpPr>
        <p:spPr>
          <a:xfrm rot="10800000">
            <a:off x="10606610" y="5397193"/>
            <a:ext cx="312253" cy="69831"/>
          </a:xfrm>
          <a:custGeom>
            <a:rect b="b" l="l" r="r" t="t"/>
            <a:pathLst>
              <a:path extrusionOk="0" h="89627" w="389081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33;p19"/>
          <p:cNvSpPr/>
          <p:nvPr/>
        </p:nvSpPr>
        <p:spPr>
          <a:xfrm>
            <a:off x="0" y="460439"/>
            <a:ext cx="2968667" cy="5937123"/>
          </a:xfrm>
          <a:custGeom>
            <a:rect b="b" l="l" r="r" t="t"/>
            <a:pathLst>
              <a:path extrusionOk="0" h="5937123" w="2968667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>
            <a:gsLst>
              <a:gs pos="0">
                <a:srgbClr val="FE0000">
                  <a:alpha val="40000"/>
                </a:srgbClr>
              </a:gs>
              <a:gs pos="100000">
                <a:srgbClr val="FE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" name="Google Shape;34;p19"/>
          <p:cNvCxnSpPr/>
          <p:nvPr/>
        </p:nvCxnSpPr>
        <p:spPr>
          <a:xfrm>
            <a:off x="1429263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" name="Google Shape;35;p19"/>
          <p:cNvCxnSpPr/>
          <p:nvPr/>
        </p:nvCxnSpPr>
        <p:spPr>
          <a:xfrm>
            <a:off x="1232452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" name="Google Shape;36;p19"/>
          <p:cNvCxnSpPr/>
          <p:nvPr/>
        </p:nvCxnSpPr>
        <p:spPr>
          <a:xfrm>
            <a:off x="1035640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" name="Google Shape;37;p19"/>
          <p:cNvCxnSpPr/>
          <p:nvPr/>
        </p:nvCxnSpPr>
        <p:spPr>
          <a:xfrm flipH="1" rot="10800000">
            <a:off x="1429263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" name="Google Shape;38;p19"/>
          <p:cNvCxnSpPr/>
          <p:nvPr/>
        </p:nvCxnSpPr>
        <p:spPr>
          <a:xfrm flipH="1" rot="10800000">
            <a:off x="1232452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" name="Google Shape;39;p19"/>
          <p:cNvCxnSpPr/>
          <p:nvPr/>
        </p:nvCxnSpPr>
        <p:spPr>
          <a:xfrm flipH="1" rot="10800000">
            <a:off x="1035640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19"/>
          <p:cNvSpPr/>
          <p:nvPr/>
        </p:nvSpPr>
        <p:spPr>
          <a:xfrm>
            <a:off x="0" y="2874648"/>
            <a:ext cx="554354" cy="1108704"/>
          </a:xfrm>
          <a:custGeom>
            <a:rect b="b" l="l" r="r" t="t"/>
            <a:pathLst>
              <a:path extrusionOk="0" h="1108704" w="55435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" name="Google Shape;41;p19"/>
          <p:cNvSpPr/>
          <p:nvPr/>
        </p:nvSpPr>
        <p:spPr>
          <a:xfrm>
            <a:off x="0" y="1337201"/>
            <a:ext cx="2091874" cy="4183599"/>
          </a:xfrm>
          <a:custGeom>
            <a:rect b="b" l="l" r="r" t="t"/>
            <a:pathLst>
              <a:path extrusionOk="0" h="4183599" w="2091874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E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" name="Google Shape;42;p19"/>
          <p:cNvSpPr/>
          <p:nvPr/>
        </p:nvSpPr>
        <p:spPr>
          <a:xfrm>
            <a:off x="0" y="0"/>
            <a:ext cx="3436547" cy="6858000"/>
          </a:xfrm>
          <a:custGeom>
            <a:rect b="b" l="l" r="r" t="t"/>
            <a:pathLst>
              <a:path extrusionOk="0" h="6871033" w="3436547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6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" name="Google Shape;43;p19"/>
          <p:cNvSpPr/>
          <p:nvPr/>
        </p:nvSpPr>
        <p:spPr>
          <a:xfrm>
            <a:off x="1468573" y="0"/>
            <a:ext cx="4961673" cy="6857999"/>
          </a:xfrm>
          <a:custGeom>
            <a:rect b="b" l="l" r="r" t="t"/>
            <a:pathLst>
              <a:path extrusionOk="0" h="6857999" w="4961673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>
            <a:gsLst>
              <a:gs pos="0">
                <a:srgbClr val="FE0000">
                  <a:alpha val="20000"/>
                </a:srgbClr>
              </a:gs>
              <a:gs pos="18000">
                <a:srgbClr val="FE0000">
                  <a:alpha val="20000"/>
                </a:srgbClr>
              </a:gs>
              <a:gs pos="73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" name="Google Shape;50;p21"/>
          <p:cNvSpPr/>
          <p:nvPr/>
        </p:nvSpPr>
        <p:spPr>
          <a:xfrm rot="10800000">
            <a:off x="0" y="2997200"/>
            <a:ext cx="4843594" cy="3860800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36000">
                <a:srgbClr val="FE0000">
                  <a:alpha val="0"/>
                </a:srgbClr>
              </a:gs>
              <a:gs pos="100000">
                <a:srgbClr val="FE0000">
                  <a:alpha val="20000"/>
                </a:srgbClr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" name="Google Shape;51;p21"/>
          <p:cNvSpPr/>
          <p:nvPr/>
        </p:nvSpPr>
        <p:spPr>
          <a:xfrm flipH="1">
            <a:off x="1240512" y="846740"/>
            <a:ext cx="556181" cy="84328"/>
          </a:xfrm>
          <a:custGeom>
            <a:rect b="b" l="l" r="r" t="t"/>
            <a:pathLst>
              <a:path extrusionOk="0" h="84328" w="556181">
                <a:moveTo>
                  <a:pt x="42164" y="0"/>
                </a:moveTo>
                <a:cubicBezTo>
                  <a:pt x="18877" y="0"/>
                  <a:pt x="0" y="18877"/>
                  <a:pt x="0" y="42164"/>
                </a:cubicBezTo>
                <a:cubicBezTo>
                  <a:pt x="0" y="65451"/>
                  <a:pt x="18877" y="84328"/>
                  <a:pt x="42164" y="84328"/>
                </a:cubicBezTo>
                <a:cubicBezTo>
                  <a:pt x="65451" y="84328"/>
                  <a:pt x="84328" y="65451"/>
                  <a:pt x="84328" y="42164"/>
                </a:cubicBezTo>
                <a:cubicBezTo>
                  <a:pt x="84328" y="18877"/>
                  <a:pt x="65451" y="0"/>
                  <a:pt x="42164" y="0"/>
                </a:cubicBezTo>
                <a:close/>
                <a:moveTo>
                  <a:pt x="199448" y="0"/>
                </a:moveTo>
                <a:cubicBezTo>
                  <a:pt x="176161" y="0"/>
                  <a:pt x="157284" y="18877"/>
                  <a:pt x="157284" y="42164"/>
                </a:cubicBezTo>
                <a:cubicBezTo>
                  <a:pt x="157284" y="65451"/>
                  <a:pt x="176161" y="84328"/>
                  <a:pt x="199448" y="84328"/>
                </a:cubicBezTo>
                <a:cubicBezTo>
                  <a:pt x="222735" y="84328"/>
                  <a:pt x="241612" y="65451"/>
                  <a:pt x="241612" y="42164"/>
                </a:cubicBezTo>
                <a:cubicBezTo>
                  <a:pt x="241612" y="18877"/>
                  <a:pt x="222735" y="0"/>
                  <a:pt x="199448" y="0"/>
                </a:cubicBezTo>
                <a:close/>
                <a:moveTo>
                  <a:pt x="356734" y="0"/>
                </a:moveTo>
                <a:cubicBezTo>
                  <a:pt x="333447" y="0"/>
                  <a:pt x="314570" y="18877"/>
                  <a:pt x="314570" y="42164"/>
                </a:cubicBezTo>
                <a:cubicBezTo>
                  <a:pt x="314570" y="65451"/>
                  <a:pt x="333447" y="84328"/>
                  <a:pt x="356734" y="84328"/>
                </a:cubicBezTo>
                <a:cubicBezTo>
                  <a:pt x="380021" y="84328"/>
                  <a:pt x="398898" y="65451"/>
                  <a:pt x="398898" y="42164"/>
                </a:cubicBezTo>
                <a:cubicBezTo>
                  <a:pt x="398898" y="18877"/>
                  <a:pt x="380021" y="0"/>
                  <a:pt x="356734" y="0"/>
                </a:cubicBezTo>
                <a:close/>
                <a:moveTo>
                  <a:pt x="514017" y="0"/>
                </a:moveTo>
                <a:cubicBezTo>
                  <a:pt x="490730" y="0"/>
                  <a:pt x="471853" y="18877"/>
                  <a:pt x="471853" y="42164"/>
                </a:cubicBezTo>
                <a:cubicBezTo>
                  <a:pt x="471853" y="65451"/>
                  <a:pt x="490730" y="84328"/>
                  <a:pt x="514017" y="84328"/>
                </a:cubicBezTo>
                <a:cubicBezTo>
                  <a:pt x="537304" y="84328"/>
                  <a:pt x="556181" y="65451"/>
                  <a:pt x="556181" y="42164"/>
                </a:cubicBezTo>
                <a:cubicBezTo>
                  <a:pt x="556181" y="18877"/>
                  <a:pt x="537304" y="0"/>
                  <a:pt x="5140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" name="Google Shape;52;p21"/>
          <p:cNvCxnSpPr/>
          <p:nvPr/>
        </p:nvCxnSpPr>
        <p:spPr>
          <a:xfrm>
            <a:off x="1844674" y="5949950"/>
            <a:ext cx="6169025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21"/>
          <p:cNvCxnSpPr/>
          <p:nvPr/>
        </p:nvCxnSpPr>
        <p:spPr>
          <a:xfrm>
            <a:off x="1137791" y="5949950"/>
            <a:ext cx="135383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" name="Google Shape;54;p21"/>
          <p:cNvSpPr/>
          <p:nvPr/>
        </p:nvSpPr>
        <p:spPr>
          <a:xfrm flipH="1">
            <a:off x="9223333" y="460439"/>
            <a:ext cx="2968667" cy="5937123"/>
          </a:xfrm>
          <a:custGeom>
            <a:rect b="b" l="l" r="r" t="t"/>
            <a:pathLst>
              <a:path extrusionOk="0" h="5937123" w="2968667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>
            <a:gsLst>
              <a:gs pos="0">
                <a:srgbClr val="FE0000">
                  <a:alpha val="40000"/>
                </a:srgbClr>
              </a:gs>
              <a:gs pos="100000">
                <a:srgbClr val="FE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" name="Google Shape;55;p21"/>
          <p:cNvCxnSpPr/>
          <p:nvPr/>
        </p:nvCxnSpPr>
        <p:spPr>
          <a:xfrm flipH="1">
            <a:off x="8555404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" name="Google Shape;56;p21"/>
          <p:cNvCxnSpPr/>
          <p:nvPr/>
        </p:nvCxnSpPr>
        <p:spPr>
          <a:xfrm flipH="1">
            <a:off x="8752215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21"/>
          <p:cNvCxnSpPr/>
          <p:nvPr/>
        </p:nvCxnSpPr>
        <p:spPr>
          <a:xfrm flipH="1">
            <a:off x="8949027" y="699862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" name="Google Shape;58;p21"/>
          <p:cNvCxnSpPr/>
          <p:nvPr/>
        </p:nvCxnSpPr>
        <p:spPr>
          <a:xfrm rot="10800000">
            <a:off x="8555404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21"/>
          <p:cNvCxnSpPr/>
          <p:nvPr/>
        </p:nvCxnSpPr>
        <p:spPr>
          <a:xfrm rot="10800000">
            <a:off x="8752215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" name="Google Shape;60;p21"/>
          <p:cNvCxnSpPr/>
          <p:nvPr/>
        </p:nvCxnSpPr>
        <p:spPr>
          <a:xfrm rot="10800000">
            <a:off x="8949027" y="3962228"/>
            <a:ext cx="2207333" cy="2207333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21"/>
          <p:cNvSpPr/>
          <p:nvPr/>
        </p:nvSpPr>
        <p:spPr>
          <a:xfrm flipH="1">
            <a:off x="11637646" y="2874648"/>
            <a:ext cx="554354" cy="1108704"/>
          </a:xfrm>
          <a:custGeom>
            <a:rect b="b" l="l" r="r" t="t"/>
            <a:pathLst>
              <a:path extrusionOk="0" h="1108704" w="55435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21"/>
          <p:cNvSpPr/>
          <p:nvPr/>
        </p:nvSpPr>
        <p:spPr>
          <a:xfrm flipH="1">
            <a:off x="10100126" y="1337201"/>
            <a:ext cx="2091874" cy="4183599"/>
          </a:xfrm>
          <a:custGeom>
            <a:rect b="b" l="l" r="r" t="t"/>
            <a:pathLst>
              <a:path extrusionOk="0" h="4183599" w="2091874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E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21"/>
          <p:cNvSpPr/>
          <p:nvPr/>
        </p:nvSpPr>
        <p:spPr>
          <a:xfrm flipH="1">
            <a:off x="8755453" y="0"/>
            <a:ext cx="3436547" cy="6858000"/>
          </a:xfrm>
          <a:custGeom>
            <a:rect b="b" l="l" r="r" t="t"/>
            <a:pathLst>
              <a:path extrusionOk="0" h="6871033" w="3436547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6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21"/>
          <p:cNvSpPr/>
          <p:nvPr/>
        </p:nvSpPr>
        <p:spPr>
          <a:xfrm flipH="1">
            <a:off x="5761754" y="0"/>
            <a:ext cx="4961673" cy="6857999"/>
          </a:xfrm>
          <a:custGeom>
            <a:rect b="b" l="l" r="r" t="t"/>
            <a:pathLst>
              <a:path extrusionOk="0" h="6857999" w="4961673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>
            <a:gsLst>
              <a:gs pos="0">
                <a:srgbClr val="FE0000">
                  <a:alpha val="20000"/>
                </a:srgbClr>
              </a:gs>
              <a:gs pos="18000">
                <a:srgbClr val="FE0000">
                  <a:alpha val="20000"/>
                </a:srgbClr>
              </a:gs>
              <a:gs pos="73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" name="Google Shape;65;p21"/>
          <p:cNvCxnSpPr/>
          <p:nvPr/>
        </p:nvCxnSpPr>
        <p:spPr>
          <a:xfrm>
            <a:off x="1379811" y="5949950"/>
            <a:ext cx="358226" cy="0"/>
          </a:xfrm>
          <a:prstGeom prst="straightConnector1">
            <a:avLst/>
          </a:prstGeom>
          <a:noFill/>
          <a:ln cap="rnd" cmpd="sng" w="25400">
            <a:solidFill>
              <a:schemeClr val="accent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21"/>
          <p:cNvSpPr txBox="1"/>
          <p:nvPr>
            <p:ph type="ctrTitle"/>
          </p:nvPr>
        </p:nvSpPr>
        <p:spPr>
          <a:xfrm>
            <a:off x="1247775" y="1656000"/>
            <a:ext cx="5900777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nrope ExtraBold"/>
              <a:buNone/>
              <a:defRPr b="0" sz="54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>
            <a:off x="1252842" y="3987256"/>
            <a:ext cx="2880000" cy="547200"/>
          </a:xfrm>
          <a:prstGeom prst="rect">
            <a:avLst/>
          </a:prstGeom>
          <a:gradFill>
            <a:gsLst>
              <a:gs pos="0">
                <a:srgbClr val="FE0000">
                  <a:alpha val="40000"/>
                </a:srgbClr>
              </a:gs>
              <a:gs pos="100000">
                <a:srgbClr val="FE0000">
                  <a:alpha val="0"/>
                </a:srgbClr>
              </a:gs>
            </a:gsLst>
            <a:lin ang="0" scaled="0"/>
          </a:gradFill>
          <a:ln cap="flat" cmpd="sng" w="9525">
            <a:solidFill>
              <a:schemeClr val="accent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1"/>
          <p:cNvSpPr/>
          <p:nvPr/>
        </p:nvSpPr>
        <p:spPr>
          <a:xfrm flipH="1" rot="10800000">
            <a:off x="1277176" y="4462345"/>
            <a:ext cx="312253" cy="69831"/>
          </a:xfrm>
          <a:custGeom>
            <a:rect b="b" l="l" r="r" t="t"/>
            <a:pathLst>
              <a:path extrusionOk="0" h="89627" w="389081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23"/>
          <p:cNvSpPr/>
          <p:nvPr/>
        </p:nvSpPr>
        <p:spPr>
          <a:xfrm>
            <a:off x="7348406" y="0"/>
            <a:ext cx="4843594" cy="3860800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36000">
                <a:srgbClr val="FE0000">
                  <a:alpha val="0"/>
                </a:srgbClr>
              </a:gs>
              <a:gs pos="100000">
                <a:srgbClr val="FE0000">
                  <a:alpha val="20000"/>
                </a:srgbClr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23"/>
          <p:cNvSpPr/>
          <p:nvPr/>
        </p:nvSpPr>
        <p:spPr>
          <a:xfrm>
            <a:off x="10172700" y="53476"/>
            <a:ext cx="2019297" cy="2019903"/>
          </a:xfrm>
          <a:custGeom>
            <a:rect b="b" l="l" r="r" t="t"/>
            <a:pathLst>
              <a:path extrusionOk="0" h="3436545" w="3435515">
                <a:moveTo>
                  <a:pt x="1" y="0"/>
                </a:moveTo>
                <a:lnTo>
                  <a:pt x="829476" y="0"/>
                </a:lnTo>
                <a:lnTo>
                  <a:pt x="829475" y="1"/>
                </a:lnTo>
                <a:lnTo>
                  <a:pt x="3435515" y="2606776"/>
                </a:lnTo>
                <a:lnTo>
                  <a:pt x="3435515" y="3436545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11000">
                <a:srgbClr val="FE0000">
                  <a:alpha val="69803"/>
                </a:srgbClr>
              </a:gs>
              <a:gs pos="79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" name="Google Shape;82;p23"/>
          <p:cNvCxnSpPr/>
          <p:nvPr/>
        </p:nvCxnSpPr>
        <p:spPr>
          <a:xfrm flipH="1" rot="-5400000">
            <a:off x="10414702" y="703131"/>
            <a:ext cx="1297407" cy="1297408"/>
          </a:xfrm>
          <a:prstGeom prst="straightConnector1">
            <a:avLst/>
          </a:prstGeom>
          <a:noFill/>
          <a:ln cap="flat" cmpd="sng" w="15875">
            <a:solidFill>
              <a:schemeClr val="accent1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23"/>
          <p:cNvCxnSpPr/>
          <p:nvPr/>
        </p:nvCxnSpPr>
        <p:spPr>
          <a:xfrm flipH="1" rot="-5400000">
            <a:off x="10414702" y="587450"/>
            <a:ext cx="1297407" cy="1297408"/>
          </a:xfrm>
          <a:prstGeom prst="straightConnector1">
            <a:avLst/>
          </a:prstGeom>
          <a:noFill/>
          <a:ln cap="flat" cmpd="sng" w="15875">
            <a:solidFill>
              <a:schemeClr val="accent1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23"/>
          <p:cNvCxnSpPr/>
          <p:nvPr/>
        </p:nvCxnSpPr>
        <p:spPr>
          <a:xfrm flipH="1" rot="-5400000">
            <a:off x="10433280" y="475577"/>
            <a:ext cx="1297407" cy="1297408"/>
          </a:xfrm>
          <a:prstGeom prst="straightConnector1">
            <a:avLst/>
          </a:prstGeom>
          <a:noFill/>
          <a:ln cap="flat" cmpd="sng" w="15875">
            <a:solidFill>
              <a:schemeClr val="accent1">
                <a:alpha val="6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23"/>
          <p:cNvSpPr/>
          <p:nvPr/>
        </p:nvSpPr>
        <p:spPr>
          <a:xfrm>
            <a:off x="10346813" y="0"/>
            <a:ext cx="1780328" cy="1780862"/>
          </a:xfrm>
          <a:custGeom>
            <a:rect b="b" l="l" r="r" t="t"/>
            <a:pathLst>
              <a:path extrusionOk="0" h="2385685" w="2384969">
                <a:moveTo>
                  <a:pt x="1" y="0"/>
                </a:moveTo>
                <a:lnTo>
                  <a:pt x="653123" y="0"/>
                </a:lnTo>
                <a:lnTo>
                  <a:pt x="653122" y="1"/>
                </a:lnTo>
                <a:lnTo>
                  <a:pt x="2384969" y="1732337"/>
                </a:lnTo>
                <a:lnTo>
                  <a:pt x="2384969" y="2385685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9000">
                <a:srgbClr val="FE0000">
                  <a:alpha val="69803"/>
                </a:srgbClr>
              </a:gs>
              <a:gs pos="79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865505" y="565150"/>
            <a:ext cx="5667375" cy="10814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nrope ExtraBold"/>
              <a:buNone/>
              <a:defRPr b="0" sz="6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24"/>
          <p:cNvSpPr/>
          <p:nvPr/>
        </p:nvSpPr>
        <p:spPr>
          <a:xfrm>
            <a:off x="0" y="1299031"/>
            <a:ext cx="2130610" cy="4259938"/>
          </a:xfrm>
          <a:custGeom>
            <a:rect b="b" l="l" r="r" t="t"/>
            <a:pathLst>
              <a:path extrusionOk="0" h="4259938" w="2130610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86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24"/>
          <p:cNvSpPr/>
          <p:nvPr/>
        </p:nvSpPr>
        <p:spPr>
          <a:xfrm>
            <a:off x="0" y="2131620"/>
            <a:ext cx="1296932" cy="2593769"/>
          </a:xfrm>
          <a:custGeom>
            <a:rect b="b" l="l" r="r" t="t"/>
            <a:pathLst>
              <a:path extrusionOk="0" h="2593769" w="1296932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>
            <a:gsLst>
              <a:gs pos="0">
                <a:srgbClr val="FE0000">
                  <a:alpha val="97647"/>
                </a:srgbClr>
              </a:gs>
              <a:gs pos="12000">
                <a:srgbClr val="FE0000">
                  <a:alpha val="97647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24"/>
          <p:cNvSpPr/>
          <p:nvPr/>
        </p:nvSpPr>
        <p:spPr>
          <a:xfrm>
            <a:off x="0" y="1588536"/>
            <a:ext cx="1840531" cy="3680928"/>
          </a:xfrm>
          <a:custGeom>
            <a:rect b="b" l="l" r="r" t="t"/>
            <a:pathLst>
              <a:path extrusionOk="0" h="3680928" w="1840531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>
            <a:gsLst>
              <a:gs pos="0">
                <a:srgbClr val="FE0000">
                  <a:alpha val="49803"/>
                </a:srgbClr>
              </a:gs>
              <a:gs pos="100000">
                <a:srgbClr val="FE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0" y="1"/>
            <a:ext cx="4961673" cy="6857999"/>
          </a:xfrm>
          <a:custGeom>
            <a:rect b="b" l="l" r="r" t="t"/>
            <a:pathLst>
              <a:path extrusionOk="0" h="6857999" w="4961673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>
            <a:gsLst>
              <a:gs pos="0">
                <a:srgbClr val="FE0000">
                  <a:alpha val="20000"/>
                </a:srgbClr>
              </a:gs>
              <a:gs pos="73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24"/>
          <p:cNvSpPr/>
          <p:nvPr/>
        </p:nvSpPr>
        <p:spPr>
          <a:xfrm flipH="1">
            <a:off x="10061390" y="1299031"/>
            <a:ext cx="2130610" cy="4259938"/>
          </a:xfrm>
          <a:custGeom>
            <a:rect b="b" l="l" r="r" t="t"/>
            <a:pathLst>
              <a:path extrusionOk="0" h="4259938" w="2130610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86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24"/>
          <p:cNvSpPr/>
          <p:nvPr/>
        </p:nvSpPr>
        <p:spPr>
          <a:xfrm flipH="1">
            <a:off x="10895068" y="2131620"/>
            <a:ext cx="1296932" cy="2593769"/>
          </a:xfrm>
          <a:custGeom>
            <a:rect b="b" l="l" r="r" t="t"/>
            <a:pathLst>
              <a:path extrusionOk="0" h="2593769" w="1296932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>
            <a:gsLst>
              <a:gs pos="0">
                <a:srgbClr val="FE0000">
                  <a:alpha val="97647"/>
                </a:srgbClr>
              </a:gs>
              <a:gs pos="12000">
                <a:srgbClr val="FE0000">
                  <a:alpha val="97647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24"/>
          <p:cNvSpPr/>
          <p:nvPr/>
        </p:nvSpPr>
        <p:spPr>
          <a:xfrm flipH="1">
            <a:off x="10351469" y="1588536"/>
            <a:ext cx="1840531" cy="3680928"/>
          </a:xfrm>
          <a:custGeom>
            <a:rect b="b" l="l" r="r" t="t"/>
            <a:pathLst>
              <a:path extrusionOk="0" h="3680928" w="1840531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>
            <a:gsLst>
              <a:gs pos="0">
                <a:srgbClr val="FE0000">
                  <a:alpha val="49803"/>
                </a:srgbClr>
              </a:gs>
              <a:gs pos="100000">
                <a:srgbClr val="FE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24"/>
          <p:cNvSpPr/>
          <p:nvPr/>
        </p:nvSpPr>
        <p:spPr>
          <a:xfrm flipH="1">
            <a:off x="7230327" y="1"/>
            <a:ext cx="4961673" cy="6857999"/>
          </a:xfrm>
          <a:custGeom>
            <a:rect b="b" l="l" r="r" t="t"/>
            <a:pathLst>
              <a:path extrusionOk="0" h="6857999" w="4961673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>
            <a:gsLst>
              <a:gs pos="0">
                <a:srgbClr val="FE0000">
                  <a:alpha val="20000"/>
                </a:srgbClr>
              </a:gs>
              <a:gs pos="73000">
                <a:srgbClr val="FE0000">
                  <a:alpha val="0"/>
                </a:srgbClr>
              </a:gs>
              <a:gs pos="100000">
                <a:srgbClr val="FE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24"/>
          <p:cNvSpPr/>
          <p:nvPr/>
        </p:nvSpPr>
        <p:spPr>
          <a:xfrm>
            <a:off x="5872175" y="4594942"/>
            <a:ext cx="447650" cy="67872"/>
          </a:xfrm>
          <a:custGeom>
            <a:rect b="b" l="l" r="r" t="t"/>
            <a:pathLst>
              <a:path extrusionOk="0" h="67872" w="447650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24"/>
          <p:cNvCxnSpPr/>
          <p:nvPr/>
        </p:nvCxnSpPr>
        <p:spPr>
          <a:xfrm rot="10800000">
            <a:off x="3655150" y="4628878"/>
            <a:ext cx="1440000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24"/>
          <p:cNvCxnSpPr/>
          <p:nvPr/>
        </p:nvCxnSpPr>
        <p:spPr>
          <a:xfrm>
            <a:off x="7096850" y="4628878"/>
            <a:ext cx="1440000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4"/>
          <p:cNvSpPr txBox="1"/>
          <p:nvPr>
            <p:ph type="title"/>
          </p:nvPr>
        </p:nvSpPr>
        <p:spPr>
          <a:xfrm>
            <a:off x="1526540" y="3022600"/>
            <a:ext cx="9144000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nrope ExtraBold"/>
              <a:buNone/>
              <a:defRPr b="0" sz="4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1524000" y="1573525"/>
            <a:ext cx="914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6565"/>
              </a:buClr>
              <a:buSzPts val="7200"/>
              <a:buNone/>
              <a:defRPr b="1" sz="7200">
                <a:solidFill>
                  <a:srgbClr val="FF6565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695960" y="1301750"/>
            <a:ext cx="5323840" cy="487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2" type="body"/>
          </p:nvPr>
        </p:nvSpPr>
        <p:spPr>
          <a:xfrm>
            <a:off x="6172200" y="1301750"/>
            <a:ext cx="5323840" cy="487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696595" y="360045"/>
            <a:ext cx="10799445" cy="8642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695960" y="1301750"/>
            <a:ext cx="5323840" cy="4113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sz="20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sz="18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18" name="Google Shape;118;p26"/>
          <p:cNvSpPr txBox="1"/>
          <p:nvPr>
            <p:ph idx="2" type="body"/>
          </p:nvPr>
        </p:nvSpPr>
        <p:spPr>
          <a:xfrm>
            <a:off x="695960" y="1875099"/>
            <a:ext cx="5323840" cy="43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3" type="body"/>
          </p:nvPr>
        </p:nvSpPr>
        <p:spPr>
          <a:xfrm>
            <a:off x="6172200" y="1301750"/>
            <a:ext cx="5323840" cy="4113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sz="20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sz="18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20" name="Google Shape;120;p26"/>
          <p:cNvSpPr txBox="1"/>
          <p:nvPr>
            <p:ph idx="4" type="body"/>
          </p:nvPr>
        </p:nvSpPr>
        <p:spPr>
          <a:xfrm>
            <a:off x="6172200" y="1875099"/>
            <a:ext cx="5323840" cy="43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ly">
  <p:cSld name="Content 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696595" y="360045"/>
            <a:ext cx="10798175" cy="8642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sz="20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sz="18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1" name="Google Shape;141;p30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8" name="Google Shape;158;p3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1" name="Google Shape;161;p3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5" name="Google Shape;165;p3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6" name="Google Shape;176;p3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87" name="Google Shape;187;p3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3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09" name="Google Shape;209;p3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3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7" name="Google Shape;217;p4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9" name="Google Shape;219;p4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25" name="Google Shape;225;p4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33" name="Google Shape;233;p4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/>
          <p:nvPr/>
        </p:nvSpPr>
        <p:spPr>
          <a:xfrm flipH="1" rot="10800000">
            <a:off x="7348406" y="2997200"/>
            <a:ext cx="4843594" cy="3860800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36000">
                <a:srgbClr val="FE0000">
                  <a:alpha val="0"/>
                </a:srgbClr>
              </a:gs>
              <a:gs pos="100000">
                <a:srgbClr val="FE0000">
                  <a:alpha val="20000"/>
                </a:srgbClr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11065933" y="5731933"/>
            <a:ext cx="1126068" cy="1126067"/>
          </a:xfrm>
          <a:custGeom>
            <a:rect b="b" l="l" r="r" t="t"/>
            <a:pathLst>
              <a:path extrusionOk="0" h="1081313" w="1081313">
                <a:moveTo>
                  <a:pt x="1081313" y="0"/>
                </a:moveTo>
                <a:lnTo>
                  <a:pt x="1081313" y="1081313"/>
                </a:lnTo>
                <a:lnTo>
                  <a:pt x="0" y="1081313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100000">
                <a:srgbClr val="FE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8"/>
          <p:cNvSpPr/>
          <p:nvPr/>
        </p:nvSpPr>
        <p:spPr>
          <a:xfrm>
            <a:off x="10769600" y="5435600"/>
            <a:ext cx="1422401" cy="1422400"/>
          </a:xfrm>
          <a:custGeom>
            <a:rect b="b" l="l" r="r" t="t"/>
            <a:pathLst>
              <a:path extrusionOk="0" h="3368637" w="3368637">
                <a:moveTo>
                  <a:pt x="3367360" y="0"/>
                </a:moveTo>
                <a:lnTo>
                  <a:pt x="3368637" y="1277"/>
                </a:lnTo>
                <a:lnTo>
                  <a:pt x="3368637" y="1446091"/>
                </a:lnTo>
                <a:lnTo>
                  <a:pt x="3367360" y="1444814"/>
                </a:lnTo>
                <a:lnTo>
                  <a:pt x="1444814" y="3367360"/>
                </a:lnTo>
                <a:lnTo>
                  <a:pt x="1446091" y="3368637"/>
                </a:lnTo>
                <a:lnTo>
                  <a:pt x="1277" y="3368637"/>
                </a:lnTo>
                <a:lnTo>
                  <a:pt x="0" y="3367360"/>
                </a:lnTo>
                <a:close/>
              </a:path>
            </a:pathLst>
          </a:custGeom>
          <a:gradFill>
            <a:gsLst>
              <a:gs pos="0">
                <a:srgbClr val="FE0000">
                  <a:alpha val="69803"/>
                </a:srgbClr>
              </a:gs>
              <a:gs pos="100000">
                <a:srgbClr val="FE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290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0" type="dt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3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2" name="Google Shape;152;p3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/>
          <p:nvPr>
            <p:ph type="ctrTitle"/>
          </p:nvPr>
        </p:nvSpPr>
        <p:spPr>
          <a:xfrm>
            <a:off x="3833495" y="2242185"/>
            <a:ext cx="7122160" cy="256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anrope ExtraBold"/>
              <a:buNone/>
            </a:pPr>
            <a:r>
              <a:rPr lang="en-US" sz="5000"/>
              <a:t>Astro-Sage Call Center Performance Analysis</a:t>
            </a:r>
            <a:endParaRPr sz="5000"/>
          </a:p>
        </p:txBody>
      </p:sp>
      <p:sp>
        <p:nvSpPr>
          <p:cNvPr id="241" name="Google Shape;241;p1"/>
          <p:cNvSpPr txBox="1"/>
          <p:nvPr>
            <p:ph idx="2" type="body"/>
          </p:nvPr>
        </p:nvSpPr>
        <p:spPr>
          <a:xfrm>
            <a:off x="8265034" y="4921400"/>
            <a:ext cx="2690842" cy="545625"/>
          </a:xfrm>
          <a:prstGeom prst="rect">
            <a:avLst/>
          </a:prstGeom>
          <a:gradFill>
            <a:gsLst>
              <a:gs pos="0">
                <a:srgbClr val="FE0000">
                  <a:alpha val="0"/>
                </a:srgbClr>
              </a:gs>
              <a:gs pos="100000">
                <a:srgbClr val="FE0000">
                  <a:alpha val="40000"/>
                </a:srgbClr>
              </a:gs>
            </a:gsLst>
            <a:lin ang="0" scaled="0"/>
          </a:gradFill>
          <a:ln cap="flat" cmpd="sng" w="9525">
            <a:solidFill>
              <a:schemeClr val="accent1">
                <a:alpha val="980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54000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 Name  Shivanshu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"/>
          <p:cNvSpPr/>
          <p:nvPr/>
        </p:nvSpPr>
        <p:spPr>
          <a:xfrm>
            <a:off x="929013" y="1853706"/>
            <a:ext cx="10333973" cy="3150587"/>
          </a:xfrm>
          <a:prstGeom prst="roundRect">
            <a:avLst>
              <a:gd fmla="val 33763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AstroSage is a leading astrology platform, serving as the world's largest astrology portal.</a:t>
            </a:r>
            <a:endParaRPr b="0" i="1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connect users with professional astrologers, offer detailed horoscopes, create personalized birth charts (Kundli), provide matchmaking services, and sell astrological products through our AstroShop. </a:t>
            </a:r>
            <a:endParaRPr b="0" i="1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538620" y="563671"/>
            <a:ext cx="3394553" cy="6388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ExtraBo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Who is AstroSage?</a:t>
            </a:r>
            <a:endParaRPr b="1" i="0" sz="20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"/>
          <p:cNvSpPr/>
          <p:nvPr/>
        </p:nvSpPr>
        <p:spPr>
          <a:xfrm>
            <a:off x="566802" y="1316799"/>
            <a:ext cx="11058395" cy="3873674"/>
          </a:xfrm>
          <a:prstGeom prst="roundRect">
            <a:avLst>
              <a:gd fmla="val 20536" name="adj"/>
            </a:avLst>
          </a:prstGeom>
          <a:solidFill>
            <a:schemeClr val="accen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234000" spcFirstLastPara="1" rIns="90000" wrap="square" tIns="22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Objective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analyze call and chat center data to understand performance, identify challenges, and uncover strategic opportunities for improvement.</a:t>
            </a:r>
            <a:endParaRPr b="0" i="1" sz="2000" u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 u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With a budget of ₹1 Crore, where should we invest to optimize efficiency, enhance customer satisfaction, and boost profitability?</a:t>
            </a:r>
            <a:endParaRPr i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"/>
          <p:cNvSpPr/>
          <p:nvPr/>
        </p:nvSpPr>
        <p:spPr>
          <a:xfrm>
            <a:off x="538621" y="563671"/>
            <a:ext cx="2317314" cy="63882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Data Overview</a:t>
            </a:r>
            <a:endParaRPr b="1" sz="20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1487335" y="1600728"/>
            <a:ext cx="9217329" cy="3656543"/>
          </a:xfrm>
          <a:prstGeom prst="roundRect">
            <a:avLst>
              <a:gd fmla="val 7888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Source: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Astro-sage Call center system logs.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Size: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28,027 consultations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Calls: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8508 calls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Chats: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19514 chats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Timeframe: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01/12/2023 – 03/01/2024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Analysis Scope: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Call outcomes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Chat outcomes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Revenue Distribution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Guru Performance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Customer Satisfaction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/>
          <p:nvPr/>
        </p:nvSpPr>
        <p:spPr>
          <a:xfrm>
            <a:off x="538620" y="563671"/>
            <a:ext cx="3695178" cy="638828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12700">
            <a:solidFill>
              <a:srgbClr val="B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Website Distribution</a:t>
            </a:r>
            <a:endParaRPr b="1" sz="20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264" name="Google Shape;2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07911"/>
            <a:ext cx="5272478" cy="3262412"/>
          </a:xfrm>
          <a:prstGeom prst="rect">
            <a:avLst/>
          </a:prstGeom>
          <a:noFill/>
          <a:ln cap="flat" cmpd="sng" w="9525">
            <a:solidFill>
              <a:srgbClr val="7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5"/>
          <p:cNvSpPr/>
          <p:nvPr/>
        </p:nvSpPr>
        <p:spPr>
          <a:xfrm>
            <a:off x="538620" y="1834772"/>
            <a:ext cx="4196219" cy="260869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Majority of users prefer Gurucool which is almost 72% followed by app 28%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dashboard is barely used (negligible).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/>
          <p:nvPr/>
        </p:nvSpPr>
        <p:spPr>
          <a:xfrm>
            <a:off x="538620" y="563671"/>
            <a:ext cx="3707703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Consultation vs Revenue</a:t>
            </a:r>
            <a:endParaRPr b="1" sz="20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38620" y="1834771"/>
            <a:ext cx="4684733" cy="3225401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Major contributing factor for our revenue is calls, around ~79% of our revenue is from calls.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~21% of the revenue is generated from chats.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Public live call contribution is very minimal compared to calls and chats (negligible).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2" name="Google Shape;2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816299"/>
            <a:ext cx="5436189" cy="32254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/>
          <p:nvPr/>
        </p:nvSpPr>
        <p:spPr>
          <a:xfrm>
            <a:off x="538620" y="563671"/>
            <a:ext cx="3407079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How well chats work?</a:t>
            </a:r>
            <a:endParaRPr b="1" sz="20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38620" y="1834773"/>
            <a:ext cx="4459265" cy="251176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~28% of the chats are completed.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Majority of chats stay incomplete (34%) and failed ( 37%).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Chat handling still has room for improvement.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9" name="Google Shape;2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14406"/>
            <a:ext cx="5290812" cy="322230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>
            <a:off x="538619" y="563671"/>
            <a:ext cx="3457183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How well calls work?</a:t>
            </a:r>
            <a:endParaRPr b="1" sz="20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38620" y="1834772"/>
            <a:ext cx="4584525" cy="2975223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~41% percent of calls are completed.</a:t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Around ~20% went unanswered , 15% went busy, 14% failed and ~10% stay as incomplete.</a:t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8288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None/>
            </a:pPr>
            <a:r>
              <a:t/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There is still enough room for improving call handling efficiency.</a:t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2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764832"/>
            <a:ext cx="5114795" cy="31151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/>
          <p:nvPr/>
        </p:nvSpPr>
        <p:spPr>
          <a:xfrm>
            <a:off x="538619" y="563671"/>
            <a:ext cx="3569918" cy="63882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Daily call volume trend</a:t>
            </a:r>
            <a:endParaRPr b="1" sz="20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12428" y="2181744"/>
            <a:ext cx="4309884" cy="250506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Call Volume seems to fluctuate between 100 – 430.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fluctuation indicates inconsistency in call volumes, demanding dynamic staffing to handle peak call periods.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3" name="Google Shape;2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1140" y="2131497"/>
            <a:ext cx="6418432" cy="2595005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9"/>
          <p:cNvSpPr/>
          <p:nvPr/>
        </p:nvSpPr>
        <p:spPr>
          <a:xfrm>
            <a:off x="7979079" y="2204723"/>
            <a:ext cx="1189973" cy="2629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551145" y="563671"/>
            <a:ext cx="3582444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Hourly call volume trend</a:t>
            </a:r>
            <a:endParaRPr b="1" sz="20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38480" y="1542415"/>
            <a:ext cx="4584700" cy="3267075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Peak call hours of a day is 5:00 AM to 4:00 PM 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Maximum of the calls are made between 7:00 to 8:00 AM (3539 calls), followed by 3:00 to 4:00 PM (3520 calls).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Handle the peak hours by implementing dynamic staffing based on workload.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0367" y="1897475"/>
            <a:ext cx="6083013" cy="284981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538619" y="563671"/>
            <a:ext cx="4471791" cy="63882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Are our customers truly satisfied?</a:t>
            </a:r>
            <a:endParaRPr b="1" sz="20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38620" y="1834772"/>
            <a:ext cx="4584525" cy="29752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Most users rated 0-3, which clearly expresses dissatisfaction.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Very few users rate at 6-8 expressing satisfaction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is still a lot improve in the aspect of customer satisfaction for good business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02977"/>
            <a:ext cx="5211418" cy="363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538619" y="563671"/>
            <a:ext cx="3394553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How are gurus rated?</a:t>
            </a:r>
            <a:endParaRPr b="1" sz="20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38480" y="1583055"/>
            <a:ext cx="4734560" cy="365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Most gurus are rated around 0-3.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Very few gurus are rated at 6-8, expressing good performance. This same scenario can be seen in user rating also.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Training programs can be implemented to improve the customer handling and thereby improving the guru ratings.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5" name="Google Shape;3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81060"/>
            <a:ext cx="5103705" cy="368264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538618" y="563671"/>
            <a:ext cx="3870543" cy="6388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Top 5 gurus based on rating</a:t>
            </a:r>
            <a:endParaRPr b="1" sz="18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38480" y="1668145"/>
            <a:ext cx="5082540" cy="4076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Tarot Mystical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b="1"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Astro Pujaa Rai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stays at top with an average rating of 7.5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Followed by Daljit Kaur, Astro Reema, Tarot Ankita.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Best practices and success strategies from these gurus can be passed to rest of the gurus to improve the guru ratings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2" name="Google Shape;3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96859"/>
            <a:ext cx="5082600" cy="386427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538618" y="563671"/>
            <a:ext cx="3995804" cy="63882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Strategic Recommendations</a:t>
            </a:r>
            <a:endParaRPr b="1" sz="20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38617" y="1809023"/>
            <a:ext cx="6237963" cy="370973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•"/>
            </a:pPr>
            <a:r>
              <a:rPr b="1"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Upgrade Technology : </a:t>
            </a:r>
            <a:r>
              <a:rPr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reduces call and chat drop rates.</a:t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•"/>
            </a:pPr>
            <a:r>
              <a:rPr b="1"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Improve Training Programs: </a:t>
            </a:r>
            <a:r>
              <a:rPr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Uplift low performing gurus with best practices from top gurus.</a:t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•"/>
            </a:pPr>
            <a:r>
              <a:rPr b="1"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Improve FCR: </a:t>
            </a:r>
            <a:r>
              <a:rPr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Reduce repeat calls by implement callback system and call-bot supports.</a:t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•"/>
            </a:pPr>
            <a:r>
              <a:rPr b="1"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Workload Balancing: </a:t>
            </a:r>
            <a:r>
              <a:rPr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Allocate work evenly to all gurus to avoid burnout and improve overall efficiency.</a:t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2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Growth graph with orange bars and white background, no words" id="329" name="Google Shape;3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7708" y="883085"/>
            <a:ext cx="4635674" cy="463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3428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28999"/>
            <a:ext cx="12192000" cy="34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/>
          <p:nvPr/>
        </p:nvSpPr>
        <p:spPr>
          <a:xfrm>
            <a:off x="538618" y="563671"/>
            <a:ext cx="2104374" cy="63882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088B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434235" y="1446508"/>
            <a:ext cx="11323530" cy="4415919"/>
          </a:xfrm>
          <a:prstGeom prst="roundRect">
            <a:avLst>
              <a:gd fmla="val 6833" name="adj"/>
            </a:avLst>
          </a:pr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360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Analyzing the 28,027 records indicates only </a:t>
            </a: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40% of call completion rate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57% repeat calls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This signals urgent need for transformation in our business model.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Coming to customer satisfaction, major pool of customers show dissatisfaction with our service. Improvement needed in the area of customer handling techniques.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Top performing gurus set a benchmark with a rating of 7.5. Adopting customer handling methods from these gurus can improve overall efficiency of the team.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Strategic investment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area of </a:t>
            </a: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tech upgrade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training programs 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should be our immediate concern in order to reduce drop rates and boost user ratings.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Hiring new resources is not our immediate concern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However, based on business expansion, the current team can also be expanded.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 txBox="1"/>
          <p:nvPr>
            <p:ph type="ctrTitle"/>
          </p:nvPr>
        </p:nvSpPr>
        <p:spPr>
          <a:xfrm>
            <a:off x="1247775" y="1656000"/>
            <a:ext cx="5900777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nrope ExtraBold"/>
              <a:buNone/>
            </a:pPr>
            <a:r>
              <a:rPr lang="en-US">
                <a:latin typeface="Manrope ExtraBold"/>
                <a:ea typeface="Manrope ExtraBold"/>
                <a:cs typeface="Manrope ExtraBold"/>
                <a:sym typeface="Manrope ExtraBold"/>
              </a:rPr>
              <a:t>THANKYOU</a:t>
            </a:r>
            <a:endParaRPr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001-6">
      <a:dk1>
        <a:srgbClr val="333333"/>
      </a:dk1>
      <a:lt1>
        <a:srgbClr val="FFFFFF"/>
      </a:lt1>
      <a:dk2>
        <a:srgbClr val="000000"/>
      </a:dk2>
      <a:lt2>
        <a:srgbClr val="FFF7F7"/>
      </a:lt2>
      <a:accent1>
        <a:srgbClr val="FE0000"/>
      </a:accent1>
      <a:accent2>
        <a:srgbClr val="E8CA16"/>
      </a:accent2>
      <a:accent3>
        <a:srgbClr val="0BBFE9"/>
      </a:accent3>
      <a:accent4>
        <a:srgbClr val="1C40F4"/>
      </a:accent4>
      <a:accent5>
        <a:srgbClr val="7F12F6"/>
      </a:accent5>
      <a:accent6>
        <a:srgbClr val="F53DC0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2025-10-24T05:40:00Z</dcterms:created>
  <dc:creator>HP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D19F4C0DD64B49158962D84C527E4035_13</vt:lpwstr>
  </property>
  <property fmtid="{D5CDD505-2E9C-101B-9397-08002B2CF9AE}" pid="3" name="KSOProductBuildVer">
    <vt:lpwstr>1033-12.2.0.23131</vt:lpwstr>
  </property>
</Properties>
</file>